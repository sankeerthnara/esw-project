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B7982B-FE72-4647-BEA1-FE59F053CE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29540C-D11D-4B27-9301-8AB74A985C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25024B-9EDA-4BEC-A212-F895C0DA7E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A05B2C-8E64-4866-AF00-13FBAE355A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ECFD89-B32B-4508-B4DB-079FFBAC5D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4FDE59-786B-4BF5-8A9F-EEE1D438EE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238F05-E9A3-45CF-B34C-E7B85C4962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131FF1-D8C4-49B1-9A17-4E369C1D71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7A2415-31AB-40C0-B5CC-99E9E17A01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D1D95E-2936-473C-BFA2-1CC73631AD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0DC574-20C1-4C56-9137-5466055281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731520" y="1051560"/>
            <a:ext cx="1096920" cy="54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731520" y="1234440"/>
            <a:ext cx="2925720" cy="292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3C5FD"/>
                </a:solidFill>
                <a:effectLst/>
                <a:uFillTx/>
                <a:latin typeface="Calibri"/>
              </a:rPr>
              <a:t>EMBEDDED SYSTEMS WORKSHOP  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1645920"/>
            <a:ext cx="7680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Aerial Manipulation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AI-Enabled Perception &amp; 3D Grasping Pipeline on the Qualcomm QIDK Platform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4"/>
          <p:cNvSpPr/>
          <p:nvPr/>
        </p:nvSpPr>
        <p:spPr>
          <a:xfrm>
            <a:off x="731520" y="2971800"/>
            <a:ext cx="7680600" cy="731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PROJECT MEMBERS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S.L.A. Kartikeya    •    N.L. Sankeerth    •    Pranathi Giri    •    Yashitha Chennupati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731520" y="3840480"/>
            <a:ext cx="7680600" cy="5940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Prof: Spandan Roy          |          Mentor: Sarthak Mishra          |          TA: Aryama Murthy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PROJECT OVERVIEW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Problem Statement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Optimizing multi-task robotic vision under strict aerial edge constraints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2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6"/>
          <p:cNvSpPr/>
          <p:nvPr/>
        </p:nvSpPr>
        <p:spPr>
          <a:xfrm>
            <a:off x="548640" y="1234440"/>
            <a:ext cx="8046360" cy="566640"/>
          </a:xfrm>
          <a:prstGeom prst="roundRect">
            <a:avLst>
              <a:gd name="adj" fmla="val 3500"/>
            </a:avLst>
          </a:prstGeom>
          <a:solidFill>
            <a:srgbClr val="EEF2FF"/>
          </a:solidFill>
          <a:ln w="12700">
            <a:solidFill>
              <a:srgbClr val="BFDB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tIns="45000" rIns="2012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CORE OBJECTIVE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Build an optimized, real-time software pipeline integrating depth analysis, segmentation, 3D grasping, and pose calculation onboard the Qualcomm QIDK platform.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7"/>
          <p:cNvSpPr/>
          <p:nvPr/>
        </p:nvSpPr>
        <p:spPr>
          <a:xfrm>
            <a:off x="548640" y="1901880"/>
            <a:ext cx="2532600" cy="2788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01  •  SWaP &amp; EDGE COMPUTE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Severe Aerial Resource Limits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Strict Power Envelope: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UAV battery limitations mandate ultra-low wattage compute (&lt;15W) with zero thermal throttling.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Fully Onboard Autonomy: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Must process raw camera feeds on Qualcomm QIDK without ground-station offload dependencies.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Memory Bandwidth Limits: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Concurrent deep neural networks compete for shared edge SoC memory bus.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3300840" y="1901880"/>
            <a:ext cx="2532600" cy="2788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02  •  LATENCY BOTTLENECK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Multi-Task Vision Lag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Cumulative Delays: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Running Depth, Segmentation, and Pose sequentially accumulates frame lags (&gt;150ms), destabilizing flight control.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Throughput Requirement: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Grasping moving/hovering targets requires deterministic real-time processing (&gt;30 FPS).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Heterogeneous Scheduling: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Demands balanced pipelining across Kryo CPU, Adreno GPU, and Hexagon NPU.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9"/>
          <p:cNvSpPr/>
          <p:nvPr/>
        </p:nvSpPr>
        <p:spPr>
          <a:xfrm>
            <a:off x="6053400" y="1901880"/>
            <a:ext cx="2532600" cy="2788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03  •  AERIAL DYNAMICS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Dynamic Flight Perturbations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Hover Jitter &amp; Vibration: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Rotor oscillations and aerodynamic wash introduce high visual blur and camera parallax.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Spatial Grasp Precision: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Requires millimeter-level 3D grasp coordinates despite target and drone movement.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Continuous Re-planning: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Pose estimates must update dynamically as the robotic end-effector nears contact.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CONTEXT &amp; SIGNIFICANCE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Project Motivation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Transforming UAVs from passive observers to interactive physical agents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3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PARADIGM SHIFT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From Passive Sensing to Physical Interaction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Beyond Observation: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Conventional drones are strictly limited to inspection and photography. Aerial manipulation empowers drones to physically interact with their environment.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High-Impact Applications: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Enables remote valve turning in refineries, hazardous waste retrieval, search-and-rescue payload delivery, and structural repair.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Complex Manipulator Mechanics: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Requires closed-loop coordination between aerial flight dynamics and lightweight multi-DoF robotic arms.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AUTONOMY REQUIREMENT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Necessity of Zero-Lag Onboard Intelligence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Fragility of Teleoperation: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RF links in industrial or disaster zones suffer from signal shadowing, high packet jitter, and total dropouts.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Safety-Critical Dynamics: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Physical contact with objects exerts reaction forces on the drone. A 100ms latency spike can cause immediate flight instability or crashes.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Closed-Loop Control: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Perception must run at camera frame rate (&gt;30 FPS) to feed visual servoing algorithms without lag.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HARDWARE ENABLER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The Qualcomm QIDK Platform Advantage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Heterogeneous Compute: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Combines high-performance Qualcomm Kryo CPU, Adreno GPU, and Hexagon NPU with dedicated vector/tensor accelerators.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Qualcomm AI Hub: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Provides pre-compiled, optimized neural backbones with hardware-specific INT8/FP16 quantization.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Optimal Energy Efficiency: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Achieves peak deep learning TOPS per watt, preserving flight battery longevity and payload flight endurance.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SYSTEM ARCHITECTURE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Proposed Solution: Modular Vision Pipeline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Decoupled multi-stage architecture with independent execution nodes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4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6"/>
          <p:cNvSpPr/>
          <p:nvPr/>
        </p:nvSpPr>
        <p:spPr>
          <a:xfrm>
            <a:off x="548640" y="1234440"/>
            <a:ext cx="8046360" cy="43848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ARCHITECTURAL PRINCIPLE: Complete decoupling of all stages communicating via zero-copy inter-process communication.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7"/>
          <p:cNvSpPr/>
          <p:nvPr/>
        </p:nvSpPr>
        <p:spPr>
          <a:xfrm>
            <a:off x="548640" y="1755720"/>
            <a:ext cx="1846800" cy="2468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12816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STAGE 1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Image Capture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Camera Interface: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MIPI-CSI / USB3 camera driver at 60 FPS.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Pre-processing: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Hardware ISP debayering, undistortion &amp; rectification.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Buffer Dispatch: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Feeds shared memory ring buffer for parallel consumer nodes.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2432160" y="2807280"/>
            <a:ext cx="14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→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9"/>
          <p:cNvSpPr/>
          <p:nvPr/>
        </p:nvSpPr>
        <p:spPr>
          <a:xfrm>
            <a:off x="2615040" y="1755720"/>
            <a:ext cx="1846800" cy="2468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12816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STAGE 2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Calculation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Neural Monocular: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Real-time depth estimation using FastDepth / MiDaS.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Metric Scaling: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Computes dense distance maps for metric Z coordinates.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Obstacle Map: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Assists collision clearance during manipulator approach.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4498920" y="2807280"/>
            <a:ext cx="14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→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1"/>
          <p:cNvSpPr/>
          <p:nvPr/>
        </p:nvSpPr>
        <p:spPr>
          <a:xfrm>
            <a:off x="4681800" y="1755720"/>
            <a:ext cx="1846800" cy="2468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12816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STAGE 3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Segmentation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Target Isolation: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Instance / semantic mask extraction via YOLOv8-Seg / DeepLabV3.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Clutter Rejection: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Separates target objects from floor &amp; background.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RoI Cropping: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Passes precise object pixel masks to 3D point cloud filter.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6565320" y="2807280"/>
            <a:ext cx="14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→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13"/>
          <p:cNvSpPr/>
          <p:nvPr/>
        </p:nvSpPr>
        <p:spPr>
          <a:xfrm>
            <a:off x="6748200" y="1755720"/>
            <a:ext cx="1846800" cy="2468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12816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STAGE 4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Pose &amp; 3D Grasp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Keypoint Detection: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Landmark tracking with MoveNet / YOLOv8-Pose.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Depth Fusion: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De-projects 2D keypoints into 3D camera coordinates.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6-DoF Synthesis: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Computes end-effector grasp orientation &amp; contact vector.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4"/>
          <p:cNvSpPr/>
          <p:nvPr/>
        </p:nvSpPr>
        <p:spPr>
          <a:xfrm>
            <a:off x="548640" y="4334400"/>
            <a:ext cx="8046360" cy="365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BENEFITS:  ✔ Asynchronous execution prevents pipeline stalling   ✔ Modular model swapping without code refactoring   ✔ Hardware NPU offload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PROJECT ROADMAP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Plan of Action: 6-Phase Execution Roadmap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Systematic progression from research to deployed edge optimization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5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6"/>
          <p:cNvSpPr/>
          <p:nvPr/>
        </p:nvSpPr>
        <p:spPr>
          <a:xfrm>
            <a:off x="548640" y="124344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PHASE 1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Literature Review &amp; Study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Research Papers: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Study recent state-of-the-art vision papers in aerial manipulation &amp; edge inference.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Algorithm Analysis: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Examine monocular depth architectures, real-time segmentation, and 3D grasp representations.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7"/>
          <p:cNvSpPr/>
          <p:nvPr/>
        </p:nvSpPr>
        <p:spPr>
          <a:xfrm>
            <a:off x="3300840" y="124344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PHASE 2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Model Exploration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Qualcomm AI Hub: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Evaluate candidate edge architectures (FastDepth, MiDaS, YOLOv8-Seg, DeepLab, MoveNet, YOLO-Pose).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Compatibility Audit: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Verify NPU operator support and quantization capabilities.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8"/>
          <p:cNvSpPr/>
          <p:nvPr/>
        </p:nvSpPr>
        <p:spPr>
          <a:xfrm>
            <a:off x="6053400" y="124344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PHASE 3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Common Benchmarking Suite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Standard Harness: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Create unified test harness measuring latency (ms), FPS, mIoU, RMSE, and memory.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Consistent Dataset: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Benchmark candidate models on standardized indoor/aerial grasping datasets.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9"/>
          <p:cNvSpPr/>
          <p:nvPr/>
        </p:nvSpPr>
        <p:spPr>
          <a:xfrm>
            <a:off x="548640" y="276156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PHASE 4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Build Individual Modules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Standalone Nodes: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Implement Depth, Segmentation, and Pose modules as independent containerized nodes.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Unit Verification: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Validate individual node accuracy, memory boundaries, and frame throughput.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0"/>
          <p:cNvSpPr/>
          <p:nvPr/>
        </p:nvSpPr>
        <p:spPr>
          <a:xfrm>
            <a:off x="3300840" y="276156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PHASE 5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Integrate the Pipeline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Decoupled IPC: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Connect modules using zero-copy shared memory queues and message passing.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Sync &amp; Fusion: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Synchronize multi-modal frame timestamps and fuse 2D masks with 3D depth.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1"/>
          <p:cNvSpPr/>
          <p:nvPr/>
        </p:nvSpPr>
        <p:spPr>
          <a:xfrm>
            <a:off x="6053400" y="276156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PHASE 6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Optimize on Qualcomm QIDK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NPU Acceleration: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Compile models into Qualcomm DLC/QNN format with INT8 post-training quantization.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Latency Profiling: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Eliminate IPC bottlenecks to achieve sustained &gt;30 FPS real-time control.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2"/>
          <p:cNvSpPr/>
          <p:nvPr/>
        </p:nvSpPr>
        <p:spPr>
          <a:xfrm>
            <a:off x="548640" y="4297680"/>
            <a:ext cx="8046360" cy="34704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WORKFLOW: Research Study  →  Model Exploration  →  Common Benchmark  →  Build Modules  →  Integrate  →  Optimise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DEPTH (1/4)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Estimation: Overview &amp; Edge Challenges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Establishing dense 3D spatial awareness from aerial camera feeds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6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MANIPULATION ROLE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Metric 3D Spatial Grounding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Metric Scale Recovery: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Converts 2D pixel coordinates (u, v) into real-world Euclidean distances (X, Y, Z) in meters.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Gripper Approach Regulation: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Provides critical range feedback to adjust drone descent and end-effector approach velocity.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Collision &amp; Obstacle Clearance: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Generates dense clearance maps ensuring the robotic arm avoids unintended physical contact during approach.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SENSOR SELECTION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Monocular vs. Stereo on UAVs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Stereo Camera Limitations: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Requires wide physical baseline, dual sensors (higher weight/drag), and is highly prone to calibration drift under motor vibration.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Monocular Deep Learning: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Uses a single ultra-lightweight camera sensor, eliminating calibration drift and saving critical payload capacity.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Neural Prior Advantage: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Trained deep networks infer depth effectively even in low-texture or repetitive surfaces where traditional stereo matching fails.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EDGE INFERENCE HURDLES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Compute &amp; Memory Constraints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Decoder Memory Bandwidth: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Upsampling layers and high-resolution depth decoders cause severe memory bus saturation on edge SoCs.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Latency Cap (&lt;20ms):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Must complete inference rapidly to preserve real-time control frequency and avoid drone flight drift.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Quantization Precision: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INT8 quantization must be carefully tuned to avoid loss of depth resolution and distance clipping.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DEPTH (2/4)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Estimation: Candidate Architectures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Comparing FastDepth and MiDaS architectures from Qualcomm AI Hub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7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6"/>
          <p:cNvSpPr/>
          <p:nvPr/>
        </p:nvSpPr>
        <p:spPr>
          <a:xfrm>
            <a:off x="548640" y="1261800"/>
            <a:ext cx="388584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64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PRIMARY EDGE ARCHITECTURE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FastDepth (MobileNet + NNConv)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Hyper-optimized for real-time mobile and edge accelerators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Encoder Topology: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MobileNet-v1/v2 backbone utilizing depthwise separable convolutions to drastically cut MAC operations.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Decoder Design: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Replaces memory-intensive transposed convolutions with lightweight Nearest-Neighbor Convolution (NNConv) decoders.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Parameter Count: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~3.93 Million parameters (ultra-compact ~15 MB memory footprint).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Computational Cost: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Only ~0.7 GFLOPs at 224x224 input resolution.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Qualcomm Hub Status: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Native support in Qualcomm AI Hub; fully compilable to Hexagon NPU with hardware INT8 quantization.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Key Advantage: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Extremely low inference latency enabling high frame rates (&gt;60 FPS) with minimal battery drain.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7"/>
          <p:cNvSpPr/>
          <p:nvPr/>
        </p:nvSpPr>
        <p:spPr>
          <a:xfrm>
            <a:off x="4709160" y="1261800"/>
            <a:ext cx="388584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64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HIGH-FIDELITY BASELINE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MiDaS (v2.1 / Small)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Versatile zero-shot relative depth with multi-dataset training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Encoder Topology: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EfficientNet / Vision Transformer backbone trained across multiple diverse 3D datasets.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Decoder Design: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Multi-scale feature pyramid network fusing deep semantic features with shallow high-resolution representations.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Parameter Count: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~21 Million parameters (~80 MB memory footprint).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Computational Cost: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~8.0 GFLOPs at 256x256 input resolution.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Qualcomm Hub Status: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Available via QAI Hub; verified FP16/INT8 compilation paths for Snapdragon platforms.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Key Advantage: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Superb boundary delineation and structural depth consistency across unfamiliar environments.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DEPTH (3/4)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Estimation: Benchmarking Setup &amp; Metrics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Standardized evaluation protocol for accuracy, latency, and edge efficiency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8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TEST DATASETS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Evaluation Datasets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NYU Depth v2 (Indoor):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Standard benchmark dataset with dense RGB-D pairs of indoor objects, table surfaces, and reach scenarios.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Aerial Close-Range Grasping: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Custom test sequences capturing target objects from varying UAV hover altitudes (0.5m to 2.5m).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Adverse Visual Conditions: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Stress-tested with dynamic lighting shifts, motion blur, and partial shadows mimicking drone flight.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ACCURACY METRICS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Error Formulation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Absolute Relative Error (AbsRel):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Measures normalized proportional deviation across all valid pixels: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 AbsRel = (1/N) * Σ |d - d*| / d*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Root Mean Square Error (RMSE):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Penalizes large outlier depth errors crucial for preventing physical collisions: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 RMSE = sqrt((1/N) * Σ (d - d*)^2)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Threshold Inlier Accuracy (δ &lt; 1.25):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Percentage of predicted pixels satisfying: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 max(d/d*, d*/d) &lt; 1.25 (standard threshold)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HARDWARE BENCHMARKING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Edge Platform Metrics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Inference Latency (ms):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Wall-clock execution time per frame on Qualcomm QIDK (Hexagon NPU &amp; Adreno GPU).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Throughput (FPS):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Sustained frames processed per second under thermal equilibrium.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Memory &amp; Bandwidth: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Peak RAM buffer consumption and bus saturation during continuous inference.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DEPTH (4/4)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Estimation: Benchmark Results &amp; Selection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Quantitative comparison of edge depth candidates on Qualcomm hardware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9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Table 6"/>
          <p:cNvGraphicFramePr/>
          <p:nvPr/>
        </p:nvGraphicFramePr>
        <p:xfrm>
          <a:off x="548640" y="1234440"/>
          <a:ext cx="8046360" cy="155412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1005840"/>
                <a:gridCol w="914400"/>
                <a:gridCol w="914400"/>
                <a:gridCol w="822960"/>
                <a:gridCol w="1645920"/>
              </a:tblGrid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Model (input, precision)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QIDK NPU Latency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NPU Throughput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AbsRel*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RMSE*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Selection Status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DA-V2 Small @280, INT8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24.2M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3.3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309 inf/s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0.081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0.36 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D9488"/>
                          </a:solidFill>
                          <a:effectLst/>
                          <a:uFillTx/>
                          <a:latin typeface="Calibri"/>
                        </a:rPr>
                        <a:t>FPS Mode (60 fps)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DA-V2 Small @392, INT8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24.2M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6.0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168 inf/s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0.071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0.33 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SELECTED (Balance)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DA-V2 Small @518, INT8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24.2M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12.9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74 inf/s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Quality Mode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0" name="Rounded Rectangle 7"/>
          <p:cNvSpPr/>
          <p:nvPr/>
        </p:nvSpPr>
        <p:spPr>
          <a:xfrm>
            <a:off x="54864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PRIMARY SELECTION: Depth Anything V2 Small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Why it replaced FastDepth/MiDaS: ViT-S encoder gives sharper object boundaries and robust zero-shot depth; 24.2M params fits the Hexagon HTP after INT8 quantization.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Measured on QIDK SM8650: 6.0 ms pure NPU time at 392² (snpe-net-run, 100 runs, burst), 14x smaller DLC than the ViT-L model we started with (682 MB → 50 MB).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8"/>
          <p:cNvSpPr/>
          <p:nvPr/>
        </p:nvSpPr>
        <p:spPr>
          <a:xfrm>
            <a:off x="470916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ACCURACY / SPEED TRADE-OFF STRATEGY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Three resolutions, one model: 280² / 392² / 518² trade 3.3 → 12.9 ms NPU time for finer depth detail; chosen per app variant without code changes.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*Accuracy protocol: NYU Depth v2 test (654 imgs), float reference, scale-shift aligned in disparity (relative-depth model), Eigen crop. '—' = evaluation in progress.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SEGMENTATION (1/3)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Segmentation: Target Isolation for Aerial Grasping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Extracting pixel-accurate masks of graspable targets against cluttered scenes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10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TASK OBJECTIVE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Target Isolation &amp; Masking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Clutter Filtering: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Isolates target objects (e.g. tools, parcels, handles) from complex backgrounds, textured terrain, and drone shadows.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Region of Interest (RoI):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Provides exact spatial bounding masks, allowing the pipeline to discard 90%+ of irrelevant background pixels.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Point Cloud Cropping: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Mask output directly crops the 3D depth point cloud, passing only target surface points to the 3D pose estimator.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MODALITY COMPARISON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Semantic vs. Instance Modality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Semantic Segmentation (DeepLab):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Assigns category labels to every pixel. Excellent for global scene classification but merges adjacent identical objects into a single continuous blob.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Instance Segmentation (YOLO-Seg):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Detects discrete object instances with unique IDs and per-object masks. Essential when choosing among multiple graspable items.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Aerial Dexterity Requirement: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Aerial grasping mandates instance-level differentiation to compute centroids of individual isolated targets.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EDGE REQUIREMENTS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Real-Time Constraints on QIDK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Low Mask Latency (&lt;18ms):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Mask generation must keep pace with rapid camera translation as the drone approaches the target.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Memory Efficient Heads: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Complex multi-stage mask decoders cause memory bus stalls; single-stage anchor-free designs are vital.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NPU Quantization: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Convolutional feature extractors must maintain high mask mAP after INT8 post-training quantization.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SEGMENTATION (2/3)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Segmentation: Candidate Architectures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Comparing DeepLabV3 and YOLOv8-Seg architectures from Qualcomm AI Hub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11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6"/>
          <p:cNvSpPr/>
          <p:nvPr/>
        </p:nvSpPr>
        <p:spPr>
          <a:xfrm>
            <a:off x="548640" y="1261800"/>
            <a:ext cx="388584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64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SEMANTIC BASELINE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DeepLabV3 (MobileNet / ResNet)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Classic semantic segmentation via Atrous Spatial Pyramid Pooling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Atrous Convolutions (Dilated):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Expands receptive field without downsampling, capturing rich contextual multi-scale features.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ASPP Module: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Parallel atrous convolutions with distinct dilation rates (e.g. 6, 12, 18) preserve sharp object boundaries.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Modality: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Semantic segmentation (produces pixel class map without individual instance differentiation).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Parameter Footprint: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~11.2 Million parameters (MobileNetV3 backbone) to 40M+ (ResNet-50).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Edge Characteristics: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Higher memory footprint; atrous convolutions can cause cache misses on edge DSP architectures.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QIDK Suitability: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Accurate for global scene understanding, but slower for multi-target grasping.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7"/>
          <p:cNvSpPr/>
          <p:nvPr/>
        </p:nvSpPr>
        <p:spPr>
          <a:xfrm>
            <a:off x="4709160" y="1261800"/>
            <a:ext cx="388584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64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PRIMARY INSTANCE ARCHITECTURE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YOLOv8-Seg (Nano / Small)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State-of-the-art single-stage anchor-free instance segmentation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Unified Architecture: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Jointly predicts bounding boxes, class scores, and instance masks in a single forward pass.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ProtoNet Mask Head: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Computes 32 prototype masks; combines them linearly per detection box via mask coefficients.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Modality: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Instance segmentation (provides bounding box + unique contour mask per object).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Parameter Footprint: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Ultra-compact ~3.4M parameters (Nano) / ~11.8M (Small).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Edge Characteristics: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Anchor-free design minimizes post-processing; heavily optimized for Qualcomm Hexagon NPU.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QIDK Suitability: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Ideal for real-time aerial manipulation; sub-12ms execution leaves ample headroom.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SEGMENTATION (3/3)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Segmentation: Benchmark Results &amp; Selection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Quantitative comparison of segmentation candidates on Qualcomm QIDK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12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9" name="Table 6"/>
          <p:cNvGraphicFramePr/>
          <p:nvPr/>
        </p:nvGraphicFramePr>
        <p:xfrm>
          <a:off x="548640" y="1234440"/>
          <a:ext cx="8046360" cy="155412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822960"/>
                <a:gridCol w="1005840"/>
                <a:gridCol w="914400"/>
                <a:gridCol w="914400"/>
                <a:gridCol w="1554480"/>
              </a:tblGrid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Model (input)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Precision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QIDK NPU Latency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NPU Throughput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Mask mAP*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Selection Status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YOLOv8n-Seg @384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W8A8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3.4M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0.5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1599 inf/s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284C7"/>
                          </a:solidFill>
                          <a:effectLst/>
                          <a:uFillTx/>
                          <a:latin typeface="Calibri"/>
                        </a:rPr>
                        <a:t>FPS Mode (60 fps)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YOLOv8n-Seg @640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W8A8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3.4M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1.1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643 inf/s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30.5%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SELECTED (Balance)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YOLOv8n-Seg @640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W8A16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3.4M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2.8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288 inf/s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30.5%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Quality Mode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0" name="Rounded Rectangle 7"/>
          <p:cNvSpPr/>
          <p:nvPr/>
        </p:nvSpPr>
        <p:spPr>
          <a:xfrm>
            <a:off x="54864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PRIMARY SELECTION: YOLOv8n-Seg (decoupled head)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Measured on QIDK SM8650: 1.1 ms pure NPU time at 640² INT8; boxes, scores, mask coefficients and prototypes exported as separate outputs so each gets its own quantization scale.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Replaced YOLOv8x-Seg: 143 MB YOLOv8x-Seg caused DSP out-of-memory when running alongside depth; YOLOv8n-Seg DLC is 8 MB.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8"/>
          <p:cNvSpPr/>
          <p:nvPr/>
        </p:nvSpPr>
        <p:spPr>
          <a:xfrm>
            <a:off x="470916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PIPELINE FUSION STRATEGY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Mask-Gated Depth: Instance masks select the target's depth pixels; background and floor are discarded before 3D back-projection.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*mAP: COCO val2017 mask mAP50-95 of the float model at 640 (Ultralytics reference); INT8 on-device evaluation in progress.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POSE CALCULATION (1/2)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Pose Estimation &amp; 3D Grasp Formulation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Computing 6-DoF spatial orientation and end-effector alignment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13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MATHEMATICAL FORMULATION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6-DoF Grasp Transformation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Transformation Matrix: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Solves SE(3) transformation between camera and target object: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 T_cam^obj = [ R | t ] (R in SO(3), t in R^3).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Gripper Frame Alignment: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Computes roll, pitch, and yaw angles needed to align the drone manipulator fingers with the target grasp axis.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Approach Vector: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Calculates collision-free approach vector perpendicular to the target surface normal.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FLIGHT DISTURBANCES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Dynamic Aerial Challenges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Drone Attitude Jitter: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UAV rotor wash and wind gusts cause roll/pitch attitude drift during hover.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Perspective Distortion: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Viewing targets from oblique aerial angles changes keypoint visibility and apparent aspect ratio.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High-Rate Feedback (&gt;50Hz):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Pose estimation must run fast enough to feed an Extended Kalman Filter (EKF) for smooth visual servoing.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FUSION PIPELINE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2D-to-3D Synthesis Workflow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Step 1 (Keypoints):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Neural keypoint detector identifies functional landmarks (handles, rims, corners) in 2D image coordinates (u_k, v_k).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Step 2 (Depth Query):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Queries metric depth map at keypoint locations to extract distance Z_k.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Step 3 (Back-Projection):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Applies camera intrinsics (fx, fy, cx, cy) to project to metric 3D space: X = (u - cx)*Z/fx, Y = (v - cy)*Z/fy.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POSE CALCULATION (2/2)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Pose Calculation: Model Benchmarks &amp; Strategy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Evaluating MoveNet and YOLOv8-Pose architectures on Qualcomm QIDK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14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3" name="Table 6"/>
          <p:cNvGraphicFramePr/>
          <p:nvPr/>
        </p:nvGraphicFramePr>
        <p:xfrm>
          <a:off x="548640" y="1234440"/>
          <a:ext cx="8046360" cy="155412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822960"/>
                <a:gridCol w="1005840"/>
                <a:gridCol w="914400"/>
                <a:gridCol w="914400"/>
                <a:gridCol w="1554480"/>
              </a:tblGrid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Candidate Model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Architecture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QIDK Latency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FPS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Keypoint AP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Selection Status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YOLOv8n-Pose (Nano)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C2f-Pose-Nano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3.3M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12.1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82.6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64.0% AP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7C3AED"/>
                          </a:solidFill>
                          <a:effectLst/>
                          <a:uFillTx/>
                          <a:latin typeface="Calibri"/>
                        </a:rPr>
                        <a:t>SELECTED (Unified Pose)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MoveNet Lightning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MobileNetV2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2.5M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7.5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133.3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63.8% AP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Alternative (Ultra-Fast)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YOLOv8s-Pose (Small)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C2f-Pose-Small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11.6M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19.5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51.2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69.2% AP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High-Precision Candidate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4" name="Rounded Rectangle 7"/>
          <p:cNvSpPr/>
          <p:nvPr/>
        </p:nvSpPr>
        <p:spPr>
          <a:xfrm>
            <a:off x="54864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PRIMARY SELECTION: YOLOv8n-Pose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Unified Detection &amp; Pose: Combines target localization and 2D keypoint regression in one forward pass, avoiding separate detection overhead.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Perspective Invariance: Highly resilient to varying aerial camera pitch angles and scale changes during drone descent.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8"/>
          <p:cNvSpPr/>
          <p:nvPr/>
        </p:nvSpPr>
        <p:spPr>
          <a:xfrm>
            <a:off x="470916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3D GRASP SYNTHESIS INTEGRATION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PnP / SVD Grasp Solver: Fuses YOLOv8n-Pose keypoints with the FastDepth metric map, solving Perspective-n-Point in &lt;1.5 ms on CPU.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MoveNet Fallback: MoveNet Lightning (7.5ms) remains available as a lightweight fallback for fast single-object tracking.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INTEGRATION &amp; DEPLOYMENT // BASELINE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Pipeline Integration: Initial Version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15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Table 6"/>
          <p:cNvGraphicFramePr/>
          <p:nvPr/>
        </p:nvGraphicFramePr>
        <p:xfrm>
          <a:off x="548640" y="1234440"/>
          <a:ext cx="8046360" cy="155412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1005840"/>
                <a:gridCol w="914400"/>
                <a:gridCol w="914400"/>
                <a:gridCol w="822960"/>
                <a:gridCol w="1645920"/>
              </a:tblGrid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Stage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Model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Precision / I/O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Input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NPU Time (in app)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Stage Total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Observation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Depth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DA-V2 Small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Float, FloatTensor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392²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28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31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D9488"/>
                          </a:solidFill>
                          <a:effectLst/>
                          <a:uFillTx/>
                          <a:latin typeface="Calibri"/>
                        </a:rPr>
                        <a:t>Float math on HTP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Segmentation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YOLOv8n-Seg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Float, FloatTensor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640²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110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117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Main bottleneck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Pose + Pipeline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Geometric PCA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CPU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masks + depth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&lt;1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147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6.6 FPS end-to-end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0" name="Rounded Rectangle 7"/>
          <p:cNvSpPr/>
          <p:nvPr/>
        </p:nvSpPr>
        <p:spPr>
          <a:xfrm>
            <a:off x="54864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BASELINE RESULT: 6.6 FPS (147 ms / frame)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Measured on QIDK SM8650: 30 s live-camera run, 124 frames, pipeline 141–154 ms per frame; far below the 30 FPS control-loop target.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First working version: Depth Anything V2 Small + YOLOv8n-Seg in float, depth and seg dispatched in parallel, PCA-based 6-DoF pose on CPU (&lt;1 ms).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Before that: ViT-L depth (682 MB DLC) + YOLOv8x-Seg (143 MB) ran out of DSP memory when run together.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8"/>
          <p:cNvSpPr/>
          <p:nvPr/>
        </p:nvSpPr>
        <p:spPr>
          <a:xfrm>
            <a:off x="470916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BOTTLENECKS IDENTIFIED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Float tensors over JNI: FloatTensor API costs ~15 ms per model per frame in conversion alone.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Seg decoding bug: CHW data fed to an NHWC model: only 336 of 1344 anchors decoded correctly.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UI-thread rendering: Per-pixel mask drawing and bitmap building on the UI thread; camera stalls with no recovery.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INTEGRATION &amp; DEPLOYMENT // OPTIMIZED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Pipeline Integration: Optimised Version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16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Table 6"/>
          <p:cNvGraphicFramePr/>
          <p:nvPr/>
        </p:nvGraphicFramePr>
        <p:xfrm>
          <a:off x="548640" y="1234440"/>
          <a:ext cx="8046360" cy="155412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1005840"/>
                <a:gridCol w="914400"/>
                <a:gridCol w="914400"/>
                <a:gridCol w="822960"/>
                <a:gridCol w="1645920"/>
              </a:tblGrid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App Variant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Depth (DA-V2 S)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Seg (YOLOv8n)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Camera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Displayed FPS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Pipeline Latency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NPU depth / seg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QIDK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280², W8A8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384², W8A8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640×480 @60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60.0 (min 59.8)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7.8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D9488"/>
                          </a:solidFill>
                          <a:effectLst/>
                          <a:uFillTx/>
                          <a:latin typeface="Calibri"/>
                        </a:rPr>
                        <a:t>3.3 / 0.5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QIDK Balance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392², W8A8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640², W8A8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640×480 @30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30.0 (min 29.3)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20.1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6.0 / 1.1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QIDK Quality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518², W8A8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640², W8A16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1280×720 @30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30.0 (min 29.7)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29.2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12.9 / 2.8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0" name="Rounded Rectangle 7"/>
          <p:cNvSpPr/>
          <p:nvPr/>
        </p:nvSpPr>
        <p:spPr>
          <a:xfrm>
            <a:off x="54864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OPTIMISATIONS APPLIED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Quantization: INT8 per-channel weights, 32-bit bias, NHWC-correct calibration; W8A16 for Quality seg.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Zero-conversion I/O: SNPE TF8/TF16 user buffers in each tensor's native encoding instead of FloatTensor.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Concurrency: Depth and seg run in parallel on the HTP; overlays built off the UI thread with triple buffering; camera stall watchdog.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8"/>
          <p:cNvSpPr/>
          <p:nvPr/>
        </p:nvSpPr>
        <p:spPr>
          <a:xfrm>
            <a:off x="470916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RESULT vs BASELINE (measured on QIDK)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Latency: 147 ms → 20.1 ms (Balance, 7.3x) and 7.8 ms (FPS, 19x).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Frame rate: 6.6 → 60 FPS (FPS mode); Balance and Quality hold the 30 FPS camera rate with headroom.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Method: 30 s live runs per app; NPU times from snpe-net-run (100 inferences, burst profile).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PROJECT ROADMAP // FUTURE TARGETS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Future Targets: Dataset Testing &amp; Accuracy Optimization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Rigorous benchmarking against provided target dataset and progressive accuracy enhancement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17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4F46E5"/>
                </a:solidFill>
                <a:effectLst/>
                <a:uFillTx/>
                <a:latin typeface="Calibri"/>
              </a:rPr>
              <a:t>TARGET 01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Testing Against Given Dataset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Dataset Ingestion: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Evaluate the complete vision pipeline against the project's designated aerial manipulation dataset and physical lab ground truth.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Realistic Flight Conditions: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Subject models to operational flight stressors: drone hover vibration, varying ambient lighting, oblique camera angles, and ground texture clutter.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Multi-Modal Alignment: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Verify temporal synchronization between RGB camera frames, depth maps, and ground truth 6-DoF grasp annotations.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TARGET 02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Determining Empirical Accuracy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Quantitative Metric Audit: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Measure exact empirical performance across all pipeline stages: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Depth: AbsRel error, RMSE (m), and inlier threshold (δ &lt; 1.25).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Segmentation: Mask mAP@50-95 and boundary mIoU.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Pose: 3D Euclidean position error (mm) and rotational error (deg).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Failure Mode Breakdown: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Identify edge clipping, keypoint occlusion, and false-positive detections under rapid UAV motion.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Compute Baseline: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Profile actual NPU memory bandwidth, thermal stability, and frame latency on physical QIDK hardware.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TARGET 03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Improving Pipeline Accuracy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Domain-Specific Fine-Tuning: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Fine-tune candidate backbones on domain-specific aerial grasp datasets to increase object affordance recall.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Cross-Modal Boundary Refinement: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Fuse YOLOv8 instance contours with FastDepth maps to eliminate depth edge-bleeding and sharpen 3D contact point estimates.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Temporal Filtering (EKF):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Integrate Extended Kalman Filtering across successive frames to filter pose jitter and ensure smooth closed-loop robotic arm trajectory execution.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CONCLUSION &amp; OUTLOOK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Summary &amp; Project Milestones</a:t>
            </a:r>
            <a:endParaRPr lang="en-IN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Current progress and forward roadmap towards autonomous aerial grasping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18 / 18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6"/>
          <p:cNvSpPr/>
          <p:nvPr/>
        </p:nvSpPr>
        <p:spPr>
          <a:xfrm>
            <a:off x="548640" y="1261800"/>
            <a:ext cx="2532600" cy="25416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MILESTONE COMPLETED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 Exploration &amp; Benchmarking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Validated Architectures: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Benchmarked candidate models across Depth, Segmentation, and Pose using Qualcomm AI Hub targets.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Deployed Models: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Depth Anything V2 Small (3.3–12.9 ms NPU), YOLOv8n-Seg (0.5–2.8 ms NPU), geometric PCA 6-DoF pose on CPU.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Pipeline Measured: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60 FPS (FPS mode) and 30 FPS (Balance / Quality) on the QIDK, up from 6.6 FPS baseline.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7"/>
          <p:cNvSpPr/>
          <p:nvPr/>
        </p:nvSpPr>
        <p:spPr>
          <a:xfrm>
            <a:off x="3300840" y="1261800"/>
            <a:ext cx="2532600" cy="25416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COMPLETED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Edge Compilation &amp; IPC Integration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Hexagon NPU Compilation (done):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ONNX → DLC, INT8/W8A16 quantization and offline HTP cache for SM8650.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Zero-Copy Ring Buffer: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Implementing POSIX shared memory ring buffers for decoupled multi-stage communication.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Sensor Calibration: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Calibrating camera distortion parameters for 2D-to-3D keypoint de-projection.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8"/>
          <p:cNvSpPr/>
          <p:nvPr/>
        </p:nvSpPr>
        <p:spPr>
          <a:xfrm>
            <a:off x="6053400" y="1261800"/>
            <a:ext cx="2532600" cy="25416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TARGET DEMO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Closed-Loop Aerial Grasping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Hardware-in-the-Loop: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Deploy and validate integrated pipeline on the physical Qualcomm QIDK developer board.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End-Effector Grasp Test: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Demonstrate autonomous detection, 3D pose alignment, and physical pick-and-place in lab mock-up.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Control Jitter Robustness: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Verify tracking stability under simulated UAV hover vibration and attitude perturbations.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2026-10-05T01:09:21Z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